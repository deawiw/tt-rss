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</p:sldIdLst>
  <p:sldSz cx="16256000" cy="9144000"/>
  <p:notesSz cx="9144000" cy="16256000"/>
  <p:embeddedFontLst>
    <p:embeddedFont>
      <p:font typeface="微软雅黑" panose="020B0503020204020204" pitchFamily="34" charset="-122"/>
      <p:regular r:id="rId18"/>
      <p:bold r:id="rId19"/>
    </p:embeddedFont>
    <p:embeddedFont>
      <p:font typeface="Hedvig Letters Sans" pitchFamily="2" charset="0"/>
      <p:regular r:id="rId20"/>
    </p:embeddedFont>
    <p:embeddedFont>
      <p:font typeface="Liter" panose="02000503030000020004" pitchFamily="2" charset="0"/>
      <p:regular r:id="rId21"/>
    </p:embeddedFont>
    <p:embeddedFont>
      <p:font typeface="Quattrocento Sans" panose="020B0502050000020003" pitchFamily="34" charset="0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8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0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218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935D-99F3-D3FA-479A-06005E35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F330F-AFDA-3953-84EE-9B0F85A59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49E61-FB1E-965F-9DD3-42D51F609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FC619-26D5-8581-C2F5-72FB1F7569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96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54028-469B-79BE-8C8E-D7EB55212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515EA-E357-2723-045F-611BE5169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38FDF-839C-180D-5671-0266D9A5F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92757-D283-51D5-5A28-53890BF289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31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znj3mmk2ub34/mnt/agents/output/cyberfraud_prelaunch/images/2_25_807_Cyber_Threat_Background_Royalty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0" y="2794000"/>
            <a:ext cx="2540000" cy="457200"/>
          </a:xfrm>
          <a:prstGeom prst="rect">
            <a:avLst/>
          </a:prstGeom>
          <a:solidFill>
            <a:srgbClr val="B5D79D"/>
          </a:solidFill>
          <a:ln w="12700">
            <a:solidFill>
              <a:srgbClr val="B5D79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2794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300" dirty="0">
                <a:solidFill>
                  <a:srgbClr val="AA44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PRE-RELEASE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78000" y="3493351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4800" kern="0" spc="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НОВОСТНАЯ ЛЕНТА </a:t>
            </a:r>
            <a:r>
              <a:rPr lang="en-US" sz="4800" kern="0" spc="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TT-RSS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23000" y="5461000"/>
            <a:ext cx="3810000" cy="25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2413000" y="5715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Автоматизированный сбор и анализ новостей с применением ИИ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Предрелизная презентация проекта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 И ПРОБЛЕМА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8962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DA5096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489629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61129"/>
            <a:ext cx="69850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3251629"/>
            <a:ext cx="647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Количество мошеннических схем </a:t>
            </a:r>
            <a:r>
              <a:rPr lang="en-US" sz="18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стремительно растёт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фишинг, дипфейки, подмена голоса, фейковые сайты.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Информация о них </a:t>
            </a:r>
            <a:r>
              <a:rPr lang="en-US" sz="18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разбросана по десяткам источников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обычному человеку сложно отслеживать все угрозы и понимать, как защититься.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248962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10" name="Text 8"/>
          <p:cNvSpPr/>
          <p:nvPr/>
        </p:nvSpPr>
        <p:spPr>
          <a:xfrm>
            <a:off x="8915400" y="2489629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 ПРОЕКТА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3061129"/>
            <a:ext cx="71120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6000" y="3251629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Создать автоматизированную систему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сбора и анализа новостей о кибермошенничестве.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Выдавать пользователю </a:t>
            </a:r>
            <a:r>
              <a:rPr lang="en-US" sz="18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готовые описания схем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простым языком и практические советы по защите.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СИСТЕМЫ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86BE6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3302000" cy="26670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6300" y="2222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0" y="76200"/>
                </a:moveTo>
                <a:cubicBezTo>
                  <a:pt x="0" y="55126"/>
                  <a:pt x="17026" y="38100"/>
                  <a:pt x="38100" y="38100"/>
                </a:cubicBezTo>
                <a:cubicBezTo>
                  <a:pt x="311706" y="38100"/>
                  <a:pt x="533400" y="259794"/>
                  <a:pt x="533400" y="533400"/>
                </a:cubicBezTo>
                <a:cubicBezTo>
                  <a:pt x="533400" y="554474"/>
                  <a:pt x="516374" y="571500"/>
                  <a:pt x="495300" y="571500"/>
                </a:cubicBezTo>
                <a:cubicBezTo>
                  <a:pt x="474226" y="571500"/>
                  <a:pt x="457200" y="554474"/>
                  <a:pt x="457200" y="533400"/>
                </a:cubicBezTo>
                <a:cubicBezTo>
                  <a:pt x="457200" y="301943"/>
                  <a:pt x="269558" y="114300"/>
                  <a:pt x="38100" y="114300"/>
                </a:cubicBezTo>
                <a:cubicBezTo>
                  <a:pt x="17026" y="114300"/>
                  <a:pt x="0" y="97274"/>
                  <a:pt x="0" y="76200"/>
                </a:cubicBezTo>
                <a:close/>
                <a:moveTo>
                  <a:pt x="0" y="495300"/>
                </a:moveTo>
                <a:cubicBezTo>
                  <a:pt x="0" y="453244"/>
                  <a:pt x="34144" y="419100"/>
                  <a:pt x="76200" y="419100"/>
                </a:cubicBezTo>
                <a:cubicBezTo>
                  <a:pt x="118256" y="419100"/>
                  <a:pt x="152400" y="453244"/>
                  <a:pt x="152400" y="495300"/>
                </a:cubicBezTo>
                <a:cubicBezTo>
                  <a:pt x="152400" y="537356"/>
                  <a:pt x="118256" y="571500"/>
                  <a:pt x="76200" y="571500"/>
                </a:cubicBezTo>
                <a:cubicBezTo>
                  <a:pt x="34144" y="571500"/>
                  <a:pt x="0" y="537356"/>
                  <a:pt x="0" y="495300"/>
                </a:cubicBezTo>
                <a:close/>
                <a:moveTo>
                  <a:pt x="38100" y="190500"/>
                </a:moveTo>
                <a:cubicBezTo>
                  <a:pt x="227528" y="190500"/>
                  <a:pt x="381000" y="343972"/>
                  <a:pt x="381000" y="533400"/>
                </a:cubicBezTo>
                <a:cubicBezTo>
                  <a:pt x="381000" y="554474"/>
                  <a:pt x="363974" y="571500"/>
                  <a:pt x="342900" y="571500"/>
                </a:cubicBezTo>
                <a:cubicBezTo>
                  <a:pt x="321826" y="571500"/>
                  <a:pt x="304800" y="554474"/>
                  <a:pt x="304800" y="533400"/>
                </a:cubicBezTo>
                <a:cubicBezTo>
                  <a:pt x="304800" y="386120"/>
                  <a:pt x="185380" y="266700"/>
                  <a:pt x="38100" y="266700"/>
                </a:cubicBezTo>
                <a:cubicBezTo>
                  <a:pt x="17026" y="266700"/>
                  <a:pt x="0" y="249674"/>
                  <a:pt x="0" y="228600"/>
                </a:cubicBezTo>
                <a:cubicBezTo>
                  <a:pt x="0" y="207526"/>
                  <a:pt x="17026" y="190500"/>
                  <a:pt x="38100" y="19050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29591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TT-RSS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" y="3365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Агрегатор RSS-лент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Развёрнут в Docker-контейнере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64000" y="3302000"/>
            <a:ext cx="508000" cy="0"/>
          </a:xfrm>
          <a:prstGeom prst="straightConnector1">
            <a:avLst/>
          </a:prstGeom>
          <a:noFill/>
          <a:ln w="25400">
            <a:solidFill>
              <a:srgbClr val="86BE60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572000" y="2032000"/>
            <a:ext cx="3302000" cy="26670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18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8100" y="76200"/>
                </a:moveTo>
                <a:cubicBezTo>
                  <a:pt x="22741" y="76200"/>
                  <a:pt x="8811" y="85487"/>
                  <a:pt x="2858" y="99774"/>
                </a:cubicBezTo>
                <a:cubicBezTo>
                  <a:pt x="-3096" y="114062"/>
                  <a:pt x="238" y="130373"/>
                  <a:pt x="11192" y="141208"/>
                </a:cubicBezTo>
                <a:lnTo>
                  <a:pt x="228600" y="358735"/>
                </a:lnTo>
                <a:lnTo>
                  <a:pt x="228600" y="495300"/>
                </a:lnTo>
                <a:cubicBezTo>
                  <a:pt x="228600" y="505420"/>
                  <a:pt x="232648" y="515064"/>
                  <a:pt x="239792" y="522208"/>
                </a:cubicBezTo>
                <a:lnTo>
                  <a:pt x="315992" y="598408"/>
                </a:lnTo>
                <a:cubicBezTo>
                  <a:pt x="326946" y="609362"/>
                  <a:pt x="343257" y="612577"/>
                  <a:pt x="357545" y="606623"/>
                </a:cubicBezTo>
                <a:cubicBezTo>
                  <a:pt x="371832" y="600670"/>
                  <a:pt x="381000" y="586859"/>
                  <a:pt x="381000" y="571500"/>
                </a:cubicBezTo>
                <a:lnTo>
                  <a:pt x="381000" y="358735"/>
                </a:lnTo>
                <a:lnTo>
                  <a:pt x="598408" y="141327"/>
                </a:lnTo>
                <a:cubicBezTo>
                  <a:pt x="609362" y="130373"/>
                  <a:pt x="612577" y="114062"/>
                  <a:pt x="606623" y="99774"/>
                </a:cubicBezTo>
                <a:cubicBezTo>
                  <a:pt x="600670" y="85487"/>
                  <a:pt x="586859" y="76200"/>
                  <a:pt x="571500" y="76200"/>
                </a:cubicBezTo>
                <a:lnTo>
                  <a:pt x="38100" y="76200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699000" y="29591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ETL-МОДУЛЬ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9000" y="3365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Сбор, очистка,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первичный отбор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Язык: 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74000" y="3302000"/>
            <a:ext cx="508000" cy="0"/>
          </a:xfrm>
          <a:prstGeom prst="straightConnector1">
            <a:avLst/>
          </a:prstGeom>
          <a:noFill/>
          <a:ln w="25400">
            <a:solidFill>
              <a:srgbClr val="B5D79D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382000" y="2032000"/>
            <a:ext cx="3302000" cy="26670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66300" y="2222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9591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БАЗА ДАННЫХ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3365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Хранение статей,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результатов анализа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684000" y="3302000"/>
            <a:ext cx="508000" cy="0"/>
          </a:xfrm>
          <a:prstGeom prst="straightConnector1">
            <a:avLst/>
          </a:prstGeom>
          <a:noFill/>
          <a:ln w="25400">
            <a:solidFill>
              <a:srgbClr val="B5D79D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192000" y="2032000"/>
            <a:ext cx="3302000" cy="2667000"/>
          </a:xfrm>
          <a:prstGeom prst="rect">
            <a:avLst/>
          </a:prstGeom>
          <a:solidFill>
            <a:srgbClr val="B5D79D"/>
          </a:solidFill>
          <a:ln w="12700">
            <a:solidFill>
              <a:srgbClr val="B5D79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449300" y="22225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19100" y="0"/>
                </a:moveTo>
                <a:cubicBezTo>
                  <a:pt x="419100" y="-21074"/>
                  <a:pt x="402074" y="-38100"/>
                  <a:pt x="381000" y="-38100"/>
                </a:cubicBezTo>
                <a:cubicBezTo>
                  <a:pt x="359926" y="-38100"/>
                  <a:pt x="342900" y="-21074"/>
                  <a:pt x="342900" y="0"/>
                </a:cubicBezTo>
                <a:lnTo>
                  <a:pt x="342900" y="76200"/>
                </a:lnTo>
                <a:lnTo>
                  <a:pt x="228600" y="76200"/>
                </a:lnTo>
                <a:cubicBezTo>
                  <a:pt x="165497" y="76200"/>
                  <a:pt x="114300" y="127397"/>
                  <a:pt x="114300" y="190500"/>
                </a:cubicBezTo>
                <a:lnTo>
                  <a:pt x="114300" y="457200"/>
                </a:lnTo>
                <a:cubicBezTo>
                  <a:pt x="114300" y="520303"/>
                  <a:pt x="165497" y="571500"/>
                  <a:pt x="228600" y="571500"/>
                </a:cubicBezTo>
                <a:lnTo>
                  <a:pt x="533400" y="571500"/>
                </a:lnTo>
                <a:cubicBezTo>
                  <a:pt x="596503" y="571500"/>
                  <a:pt x="647700" y="520303"/>
                  <a:pt x="647700" y="457200"/>
                </a:cubicBezTo>
                <a:lnTo>
                  <a:pt x="647700" y="190500"/>
                </a:lnTo>
                <a:cubicBezTo>
                  <a:pt x="647700" y="127397"/>
                  <a:pt x="596503" y="76200"/>
                  <a:pt x="533400" y="76200"/>
                </a:cubicBezTo>
                <a:lnTo>
                  <a:pt x="419100" y="76200"/>
                </a:lnTo>
                <a:lnTo>
                  <a:pt x="419100" y="0"/>
                </a:lnTo>
                <a:close/>
                <a:moveTo>
                  <a:pt x="190500" y="438150"/>
                </a:moveTo>
                <a:cubicBezTo>
                  <a:pt x="190500" y="422315"/>
                  <a:pt x="203240" y="409575"/>
                  <a:pt x="219075" y="409575"/>
                </a:cubicBezTo>
                <a:lnTo>
                  <a:pt x="257175" y="409575"/>
                </a:lnTo>
                <a:cubicBezTo>
                  <a:pt x="273010" y="409575"/>
                  <a:pt x="285750" y="422315"/>
                  <a:pt x="285750" y="438150"/>
                </a:cubicBezTo>
                <a:cubicBezTo>
                  <a:pt x="285750" y="453985"/>
                  <a:pt x="273010" y="466725"/>
                  <a:pt x="257175" y="466725"/>
                </a:cubicBezTo>
                <a:lnTo>
                  <a:pt x="219075" y="466725"/>
                </a:lnTo>
                <a:cubicBezTo>
                  <a:pt x="203240" y="466725"/>
                  <a:pt x="190500" y="453985"/>
                  <a:pt x="190500" y="438150"/>
                </a:cubicBezTo>
                <a:close/>
                <a:moveTo>
                  <a:pt x="333375" y="438150"/>
                </a:moveTo>
                <a:cubicBezTo>
                  <a:pt x="333375" y="422315"/>
                  <a:pt x="346115" y="409575"/>
                  <a:pt x="361950" y="409575"/>
                </a:cubicBezTo>
                <a:lnTo>
                  <a:pt x="400050" y="409575"/>
                </a:lnTo>
                <a:cubicBezTo>
                  <a:pt x="415885" y="409575"/>
                  <a:pt x="428625" y="422315"/>
                  <a:pt x="428625" y="438150"/>
                </a:cubicBezTo>
                <a:cubicBezTo>
                  <a:pt x="428625" y="453985"/>
                  <a:pt x="415885" y="466725"/>
                  <a:pt x="400050" y="466725"/>
                </a:cubicBezTo>
                <a:lnTo>
                  <a:pt x="361950" y="466725"/>
                </a:lnTo>
                <a:cubicBezTo>
                  <a:pt x="346115" y="466725"/>
                  <a:pt x="333375" y="453985"/>
                  <a:pt x="333375" y="438150"/>
                </a:cubicBezTo>
                <a:close/>
                <a:moveTo>
                  <a:pt x="476250" y="438150"/>
                </a:moveTo>
                <a:cubicBezTo>
                  <a:pt x="476250" y="422315"/>
                  <a:pt x="488990" y="409575"/>
                  <a:pt x="504825" y="409575"/>
                </a:cubicBezTo>
                <a:lnTo>
                  <a:pt x="542925" y="409575"/>
                </a:lnTo>
                <a:cubicBezTo>
                  <a:pt x="558760" y="409575"/>
                  <a:pt x="571500" y="422315"/>
                  <a:pt x="571500" y="438150"/>
                </a:cubicBezTo>
                <a:cubicBezTo>
                  <a:pt x="571500" y="453985"/>
                  <a:pt x="558760" y="466725"/>
                  <a:pt x="542925" y="466725"/>
                </a:cubicBezTo>
                <a:lnTo>
                  <a:pt x="504825" y="466725"/>
                </a:lnTo>
                <a:cubicBezTo>
                  <a:pt x="488990" y="466725"/>
                  <a:pt x="476250" y="453985"/>
                  <a:pt x="476250" y="438150"/>
                </a:cubicBezTo>
                <a:close/>
                <a:moveTo>
                  <a:pt x="266700" y="209550"/>
                </a:moveTo>
                <a:cubicBezTo>
                  <a:pt x="298242" y="209550"/>
                  <a:pt x="323850" y="235158"/>
                  <a:pt x="323850" y="266700"/>
                </a:cubicBezTo>
                <a:cubicBezTo>
                  <a:pt x="323850" y="298242"/>
                  <a:pt x="298242" y="323850"/>
                  <a:pt x="266700" y="323850"/>
                </a:cubicBezTo>
                <a:cubicBezTo>
                  <a:pt x="235158" y="323850"/>
                  <a:pt x="209550" y="298242"/>
                  <a:pt x="209550" y="266700"/>
                </a:cubicBezTo>
                <a:cubicBezTo>
                  <a:pt x="209550" y="235158"/>
                  <a:pt x="235158" y="209550"/>
                  <a:pt x="266700" y="209550"/>
                </a:cubicBezTo>
                <a:close/>
                <a:moveTo>
                  <a:pt x="438150" y="266700"/>
                </a:moveTo>
                <a:cubicBezTo>
                  <a:pt x="438150" y="235158"/>
                  <a:pt x="463758" y="209550"/>
                  <a:pt x="495300" y="209550"/>
                </a:cubicBezTo>
                <a:cubicBezTo>
                  <a:pt x="526842" y="209550"/>
                  <a:pt x="552450" y="235158"/>
                  <a:pt x="552450" y="266700"/>
                </a:cubicBezTo>
                <a:cubicBezTo>
                  <a:pt x="552450" y="298242"/>
                  <a:pt x="526842" y="323850"/>
                  <a:pt x="495300" y="323850"/>
                </a:cubicBezTo>
                <a:cubicBezTo>
                  <a:pt x="463758" y="323850"/>
                  <a:pt x="438150" y="298242"/>
                  <a:pt x="438150" y="266700"/>
                </a:cubicBezTo>
                <a:close/>
                <a:moveTo>
                  <a:pt x="76200" y="266700"/>
                </a:moveTo>
                <a:cubicBezTo>
                  <a:pt x="76200" y="245626"/>
                  <a:pt x="59174" y="228600"/>
                  <a:pt x="38100" y="228600"/>
                </a:cubicBezTo>
                <a:cubicBezTo>
                  <a:pt x="17026" y="228600"/>
                  <a:pt x="0" y="245626"/>
                  <a:pt x="0" y="266700"/>
                </a:cubicBezTo>
                <a:lnTo>
                  <a:pt x="0" y="381000"/>
                </a:lnTo>
                <a:cubicBezTo>
                  <a:pt x="0" y="402074"/>
                  <a:pt x="17026" y="419100"/>
                  <a:pt x="38100" y="419100"/>
                </a:cubicBezTo>
                <a:cubicBezTo>
                  <a:pt x="59174" y="419100"/>
                  <a:pt x="76200" y="402074"/>
                  <a:pt x="76200" y="381000"/>
                </a:cubicBezTo>
                <a:lnTo>
                  <a:pt x="76200" y="266700"/>
                </a:lnTo>
                <a:close/>
                <a:moveTo>
                  <a:pt x="723900" y="228600"/>
                </a:moveTo>
                <a:cubicBezTo>
                  <a:pt x="702826" y="228600"/>
                  <a:pt x="685800" y="245626"/>
                  <a:pt x="685800" y="266700"/>
                </a:cubicBezTo>
                <a:lnTo>
                  <a:pt x="685800" y="381000"/>
                </a:lnTo>
                <a:cubicBezTo>
                  <a:pt x="685800" y="402074"/>
                  <a:pt x="702826" y="419100"/>
                  <a:pt x="723900" y="419100"/>
                </a:cubicBezTo>
                <a:cubicBezTo>
                  <a:pt x="744974" y="419100"/>
                  <a:pt x="762000" y="402074"/>
                  <a:pt x="762000" y="381000"/>
                </a:cubicBezTo>
                <a:lnTo>
                  <a:pt x="762000" y="266700"/>
                </a:lnTo>
                <a:cubicBezTo>
                  <a:pt x="762000" y="245626"/>
                  <a:pt x="744974" y="228600"/>
                  <a:pt x="723900" y="228600"/>
                </a:cubicBezTo>
                <a:close/>
              </a:path>
            </a:pathLst>
          </a:custGeom>
          <a:solidFill>
            <a:srgbClr val="7C3FFF">
              <a:alpha val="9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319000" y="29591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MCP-СЕРВЕР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19000" y="3365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7C3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Глубокий ИИ-анализ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C3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Qwen 2.5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7C3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через Ollama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192000" y="5207000"/>
            <a:ext cx="3302000" cy="2667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38200" y="5397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2319000" y="61341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SHINY-ДАШБОРД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19000" y="6540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Веб-интерфейс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для пользователя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Язык: 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5207000"/>
            <a:ext cx="10922000" cy="3175000"/>
          </a:xfrm>
          <a:prstGeom prst="rect">
            <a:avLst/>
          </a:prstGeom>
          <a:solidFill>
            <a:srgbClr val="1E293B">
              <a:alpha val="50196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6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ПОТОК ДАННЫХ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5842000"/>
            <a:ext cx="10414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TT-RSS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собирает RSS-ленты из 24+ специализированных ИБ-источников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ETL-модуль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очищает HTML, нормализует текст, применяет словарный фильтр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Отобранные статьи сохраняются в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 флагом is_fraud_related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MCP-сервер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отправляет статьи в Qwen 2.5 для глубокого анализа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Результаты отображаются в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Shiny-приложении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 фильтрами и экспортом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3843000" y="4699000"/>
            <a:ext cx="0" cy="544714"/>
          </a:xfrm>
          <a:prstGeom prst="straightConnector1">
            <a:avLst/>
          </a:prstGeom>
          <a:noFill/>
          <a:ln w="25400">
            <a:solidFill>
              <a:srgbClr val="B5D79D"/>
            </a:solidFill>
            <a:prstDash val="solid"/>
            <a:headEnd type="none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15511293" y="2888377"/>
            <a:ext cx="2475973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74382" y="4714407"/>
            <a:ext cx="2475973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ИСТОЧНИКИ ДАННЫХ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DA5096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146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БЫЛО: ОБЩИЕ ЛЕНТЫ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905000"/>
            <a:ext cx="6985000" cy="12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2006600"/>
            <a:ext cx="647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Лента.ру, РИА Новости, 161.ру и др.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A5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Проблема: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слишком много шума, мало профильных статей по кибербезопасности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46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10" name="Text 8"/>
          <p:cNvSpPr/>
          <p:nvPr/>
        </p:nvSpPr>
        <p:spPr>
          <a:xfrm>
            <a:off x="8839200" y="1460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СТАЛО: СПЕЦИАЛИЗИРОВАННЫЕ ИБ-ЛЕНТЫ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1905000"/>
            <a:ext cx="7112000" cy="152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6000" y="20066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Xakep.ru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Habr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Лаборатория Касперского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SecurityLab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другие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Итого: 24 источника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739444"/>
            <a:ext cx="14732000" cy="4699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74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4318000"/>
            <a:ext cx="431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898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1016000" y="5397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статей в тестовой базе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 ИБ-источников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8000" y="4572000"/>
            <a:ext cx="12700" cy="1016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5842000" y="4318000"/>
            <a:ext cx="431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842000" y="5397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специализированных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ИБ-источника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414000" y="4572000"/>
            <a:ext cx="12700" cy="1016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0" y="4318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10668000" y="5397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релевантных статей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 кибербезопасности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628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ИСТОЧНИКИ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6000" y="6731000"/>
            <a:ext cx="2540000" cy="571500"/>
          </a:xfrm>
          <a:prstGeom prst="rect">
            <a:avLst/>
          </a:prstGeom>
          <a:solidFill>
            <a:srgbClr val="7C3AED">
              <a:alpha val="12549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000" y="6731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Xakep.ru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62424" y="6731000"/>
            <a:ext cx="2540000" cy="571500"/>
          </a:xfrm>
          <a:prstGeom prst="rect">
            <a:avLst/>
          </a:prstGeom>
          <a:solidFill>
            <a:srgbClr val="7C3AED">
              <a:alpha val="12549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01395" y="6736644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74605" y="6716889"/>
            <a:ext cx="2540000" cy="571500"/>
          </a:xfrm>
          <a:prstGeom prst="rect">
            <a:avLst/>
          </a:prstGeom>
          <a:solidFill>
            <a:srgbClr val="7C3AED">
              <a:alpha val="12549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9" name="Text 27"/>
          <p:cNvSpPr/>
          <p:nvPr/>
        </p:nvSpPr>
        <p:spPr>
          <a:xfrm>
            <a:off x="7074605" y="6707717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Лаб. </a:t>
            </a:r>
            <a:r>
              <a:rPr lang="en-US" sz="1400" dirty="0" err="1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Касперского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07500" y="6731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91044" y="6731000"/>
            <a:ext cx="2540000" cy="571500"/>
          </a:xfrm>
          <a:prstGeom prst="rect">
            <a:avLst/>
          </a:prstGeom>
          <a:solidFill>
            <a:srgbClr val="7C3AED">
              <a:alpha val="12549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60000" y="672465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SecurityLab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6000" y="7493000"/>
            <a:ext cx="134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 19 других специализированных источников информационной безопасности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ИЗМЕНЕНИЯ В БАЗЕ ДАННЫХ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ТАБЛИЦА: articles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6985000" cy="1270000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Колонка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Тип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is_fraud_related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BOOLEAN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Флаг первичного отбора (словарный фильтр)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38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ТАБЛИЦА: fraud_articles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841500"/>
          <a:ext cx="7112000" cy="2159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Колонка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Тип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is_fraud_scheme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BOOLEAN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Финальный вердикт ИИ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summary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Краткое описание схемы простым языком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advice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Практические советы по защите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62000" y="349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ДОПОЛНИТЕЛЬНО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62000" y="3937000"/>
            <a:ext cx="6985000" cy="101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7"/>
          <p:cNvSpPr/>
          <p:nvPr/>
        </p:nvSpPr>
        <p:spPr>
          <a:xfrm>
            <a:off x="990600" y="4165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50800"/>
                </a:moveTo>
                <a:cubicBezTo>
                  <a:pt x="312738" y="50800"/>
                  <a:pt x="381000" y="119063"/>
                  <a:pt x="381000" y="203200"/>
                </a:cubicBezTo>
                <a:cubicBezTo>
                  <a:pt x="381000" y="287338"/>
                  <a:pt x="312738" y="355600"/>
                  <a:pt x="228600" y="355600"/>
                </a:cubicBezTo>
                <a:cubicBezTo>
                  <a:pt x="176848" y="355600"/>
                  <a:pt x="131048" y="329803"/>
                  <a:pt x="103505" y="290274"/>
                </a:cubicBezTo>
                <a:cubicBezTo>
                  <a:pt x="95488" y="278765"/>
                  <a:pt x="79613" y="275987"/>
                  <a:pt x="68104" y="284004"/>
                </a:cubicBezTo>
                <a:cubicBezTo>
                  <a:pt x="56594" y="292021"/>
                  <a:pt x="53816" y="307896"/>
                  <a:pt x="61833" y="319405"/>
                </a:cubicBezTo>
                <a:cubicBezTo>
                  <a:pt x="98504" y="371951"/>
                  <a:pt x="159544" y="406400"/>
                  <a:pt x="228600" y="406400"/>
                </a:cubicBezTo>
                <a:cubicBezTo>
                  <a:pt x="340836" y="406400"/>
                  <a:pt x="431800" y="315436"/>
                  <a:pt x="431800" y="203200"/>
                </a:cubicBezTo>
                <a:cubicBezTo>
                  <a:pt x="431800" y="90964"/>
                  <a:pt x="340836" y="0"/>
                  <a:pt x="228600" y="0"/>
                </a:cubicBezTo>
                <a:cubicBezTo>
                  <a:pt x="160576" y="0"/>
                  <a:pt x="100409" y="33417"/>
                  <a:pt x="63500" y="84693"/>
                </a:cubicBezTo>
                <a:lnTo>
                  <a:pt x="63500" y="63500"/>
                </a:lnTo>
                <a:cubicBezTo>
                  <a:pt x="63500" y="49451"/>
                  <a:pt x="52149" y="38100"/>
                  <a:pt x="38100" y="38100"/>
                </a:cubicBezTo>
                <a:cubicBezTo>
                  <a:pt x="24051" y="38100"/>
                  <a:pt x="12700" y="49451"/>
                  <a:pt x="12700" y="63500"/>
                </a:cubicBezTo>
                <a:lnTo>
                  <a:pt x="12700" y="152400"/>
                </a:lnTo>
                <a:cubicBezTo>
                  <a:pt x="12700" y="166449"/>
                  <a:pt x="24051" y="177800"/>
                  <a:pt x="38100" y="177800"/>
                </a:cubicBezTo>
                <a:lnTo>
                  <a:pt x="57626" y="177800"/>
                </a:lnTo>
                <a:cubicBezTo>
                  <a:pt x="58023" y="177800"/>
                  <a:pt x="58420" y="177800"/>
                  <a:pt x="58817" y="177800"/>
                </a:cubicBezTo>
                <a:lnTo>
                  <a:pt x="127079" y="177800"/>
                </a:lnTo>
                <a:cubicBezTo>
                  <a:pt x="141129" y="177800"/>
                  <a:pt x="152479" y="166449"/>
                  <a:pt x="152479" y="152400"/>
                </a:cubicBezTo>
                <a:cubicBezTo>
                  <a:pt x="152479" y="138351"/>
                  <a:pt x="141129" y="127000"/>
                  <a:pt x="127079" y="127000"/>
                </a:cubicBezTo>
                <a:lnTo>
                  <a:pt x="96679" y="127000"/>
                </a:lnTo>
                <a:cubicBezTo>
                  <a:pt x="122952" y="81439"/>
                  <a:pt x="172244" y="50800"/>
                  <a:pt x="228600" y="50800"/>
                </a:cubicBezTo>
                <a:close/>
                <a:moveTo>
                  <a:pt x="247650" y="120650"/>
                </a:moveTo>
                <a:cubicBezTo>
                  <a:pt x="247650" y="110093"/>
                  <a:pt x="239157" y="101600"/>
                  <a:pt x="228600" y="101600"/>
                </a:cubicBezTo>
                <a:cubicBezTo>
                  <a:pt x="218043" y="101600"/>
                  <a:pt x="209550" y="110093"/>
                  <a:pt x="209550" y="120650"/>
                </a:cubicBezTo>
                <a:lnTo>
                  <a:pt x="209550" y="203200"/>
                </a:lnTo>
                <a:cubicBezTo>
                  <a:pt x="209550" y="208280"/>
                  <a:pt x="211534" y="213122"/>
                  <a:pt x="215106" y="216694"/>
                </a:cubicBezTo>
                <a:lnTo>
                  <a:pt x="272256" y="273844"/>
                </a:lnTo>
                <a:cubicBezTo>
                  <a:pt x="279717" y="281305"/>
                  <a:pt x="291783" y="281305"/>
                  <a:pt x="299164" y="273844"/>
                </a:cubicBezTo>
                <a:cubicBezTo>
                  <a:pt x="306546" y="266383"/>
                  <a:pt x="306626" y="254317"/>
                  <a:pt x="299164" y="246936"/>
                </a:cubicBezTo>
                <a:lnTo>
                  <a:pt x="247571" y="195342"/>
                </a:lnTo>
                <a:lnTo>
                  <a:pt x="247571" y="120650"/>
                </a:ln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12" name="Text 8"/>
          <p:cNvSpPr/>
          <p:nvPr/>
        </p:nvSpPr>
        <p:spPr>
          <a:xfrm>
            <a:off x="1574800" y="4064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Таблица etl_runs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для логирования всех запусков ETL-процесса: время запуска, статус, количество обработанных статей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СХЕМА ДАННЫХ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62000" y="5842000"/>
            <a:ext cx="14732000" cy="2540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1270000" y="6477000"/>
            <a:ext cx="2794000" cy="101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2"/>
          <p:cNvSpPr/>
          <p:nvPr/>
        </p:nvSpPr>
        <p:spPr>
          <a:xfrm>
            <a:off x="1270000" y="6477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все статьи + is_fraud_related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064000" y="6921500"/>
            <a:ext cx="1016000" cy="0"/>
          </a:xfrm>
          <a:prstGeom prst="straightConnector1">
            <a:avLst/>
          </a:prstGeom>
          <a:noFill/>
          <a:ln w="25400">
            <a:solidFill>
              <a:srgbClr val="DA5096"/>
            </a:solidFill>
            <a:prstDash val="solid"/>
            <a:headEnd type="none"/>
            <a:tailEnd type="arrow"/>
          </a:ln>
        </p:spPr>
      </p:sp>
      <p:sp>
        <p:nvSpPr>
          <p:cNvPr id="18" name="Text 14"/>
          <p:cNvSpPr/>
          <p:nvPr/>
        </p:nvSpPr>
        <p:spPr>
          <a:xfrm>
            <a:off x="4191000" y="7048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A5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фильтр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80000" y="6477000"/>
            <a:ext cx="3302000" cy="1016000"/>
          </a:xfrm>
          <a:prstGeom prst="rect">
            <a:avLst/>
          </a:prstGeom>
          <a:solidFill>
            <a:srgbClr val="DA5096"/>
          </a:solidFill>
          <a:ln/>
        </p:spPr>
      </p:sp>
      <p:sp>
        <p:nvSpPr>
          <p:cNvPr id="20" name="Text 16"/>
          <p:cNvSpPr/>
          <p:nvPr/>
        </p:nvSpPr>
        <p:spPr>
          <a:xfrm>
            <a:off x="5080000" y="6477000"/>
            <a:ext cx="330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fraud_articles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summary + advice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382000" y="6921500"/>
            <a:ext cx="1016000" cy="0"/>
          </a:xfrm>
          <a:prstGeom prst="straightConnector1">
            <a:avLst/>
          </a:prstGeom>
          <a:noFill/>
          <a:ln w="25400">
            <a:solidFill>
              <a:srgbClr val="B5D79D"/>
            </a:solidFill>
            <a:prstDash val="solid"/>
            <a:headEnd type="none"/>
            <a:tailEnd type="arrow"/>
          </a:ln>
        </p:spPr>
      </p:sp>
      <p:sp>
        <p:nvSpPr>
          <p:cNvPr id="22" name="Text 18"/>
          <p:cNvSpPr/>
          <p:nvPr/>
        </p:nvSpPr>
        <p:spPr>
          <a:xfrm>
            <a:off x="8509000" y="7048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ИИ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398000" y="6477000"/>
            <a:ext cx="2794000" cy="10160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24" name="Text 20"/>
          <p:cNvSpPr/>
          <p:nvPr/>
        </p:nvSpPr>
        <p:spPr>
          <a:xfrm>
            <a:off x="9398000" y="6477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etl_runs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логирование ETL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270000" y="763238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articles — все собранные статьи </a:t>
            </a:r>
            <a:r>
              <a:rPr lang="en-US" sz="1400" dirty="0">
                <a:solidFill>
                  <a:srgbClr val="DA5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fraud_articles — отобранные мошеннические схемы </a:t>
            </a:r>
            <a:r>
              <a:rPr lang="en-US" sz="14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etl_runs — логи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ПЕРВИЧНЫЙ ОТБОР — СЛОВАРНЫЙ ФИЛЬТР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СЛОВАРЬ КЛЮЧЕВЫХ СЛОВ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7112000" cy="2730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19685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~200 ключевых слов и фраз: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мошенничеств.*, фишинг.*, дипфейк, deepfake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подмен.*голос, звон.*из банк, безопасн.*счет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код из смс, взлом.*аккаунт, слив.*данных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дроппер, ransomware, социальн.*инженер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Регулярные выражения для гибкого matching'а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РАБОТАЕТ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841500"/>
            <a:ext cx="7112000" cy="25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6000" y="19685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r>
              <a:rPr lang="en-US" sz="15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ETL забирает статьи из источников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r>
              <a:rPr lang="en-US" sz="15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Очищает HTML-теги и нормализует текст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r>
              <a:rPr lang="en-US" sz="15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Применяет словарный фильтр к полному тексту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r>
              <a:rPr lang="en-US" sz="1500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Проставляет флаг is_fraud_related (TRUE/FALSE)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Проверяется content_text, не только заголовки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76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 ФИЛЬТРАЦИИ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207000"/>
            <a:ext cx="14732000" cy="3111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54610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898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016000" y="641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всего статей в базе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0" y="5842000"/>
            <a:ext cx="762000" cy="0"/>
          </a:xfrm>
          <a:prstGeom prst="straightConnector1">
            <a:avLst/>
          </a:prstGeom>
          <a:noFill/>
          <a:ln w="38100">
            <a:solidFill>
              <a:srgbClr val="B5D79D"/>
            </a:solidFill>
            <a:prstDash val="solid"/>
            <a:headEnd type="none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6223000" y="54610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223000" y="64135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прошли первичный отбор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≈6.7%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87000" y="5842000"/>
            <a:ext cx="762000" cy="0"/>
          </a:xfrm>
          <a:prstGeom prst="straightConnector1">
            <a:avLst/>
          </a:prstGeom>
          <a:noFill/>
          <a:ln w="38100">
            <a:solidFill>
              <a:srgbClr val="B5D79D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11430000" y="54610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11430000" y="6413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явного мусора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 по тематике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7488198"/>
            <a:ext cx="144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6.7% статей прошли фильтр — все релевантны теме кибербезопасности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08C6DF72-4AFC-99AA-F31E-AF6772DCD874}"/>
              </a:ext>
            </a:extLst>
          </p:cNvPr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РАБОТА СЛОВАРНОГО ФИЛЬТРА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2000" y="1371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ETL/R/FRAUD_KEYWORDS.R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778000"/>
            <a:ext cx="9525000" cy="6921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1968500"/>
            <a:ext cx="9017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fraud_keywords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&lt;- </a:t>
            </a:r>
            <a:r>
              <a:rPr lang="en-US" sz="12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"мошенничеств.*"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"фишинг.*"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"дипфейк"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"deepfake"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"подмен.*голос"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"звон.*из банк"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"безопасн.*счет"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"код из смс"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"взлом.*аккаунт"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"слив.*данных"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"дроппер"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"ransomware"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"социальн.*инженер"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...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apply_fraud_keyword_filter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&lt;- </a:t>
            </a:r>
            <a:r>
              <a:rPr lang="en-US" sz="12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(articles_df)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&lt;- </a:t>
            </a:r>
            <a:r>
              <a:rPr lang="en-US" sz="12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paste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(fraud_keywords, collapse = </a:t>
            </a:r>
            <a:r>
              <a:rPr lang="en-US" sz="1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"|"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text_to_check &lt;- </a:t>
            </a:r>
            <a:r>
              <a:rPr lang="en-US" sz="12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paste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articles_df$content_text,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articles_df$title)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articles_df$is_fraud_related &lt;- </a:t>
            </a:r>
            <a:r>
              <a:rPr lang="en-US" sz="12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grepl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pattern, text_to_check,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ignore.case = </a:t>
            </a:r>
            <a:r>
              <a:rPr lang="en-US" sz="12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(articles_df)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668000" y="1778000"/>
            <a:ext cx="4826000" cy="6604000"/>
          </a:xfrm>
          <a:prstGeom prst="rect">
            <a:avLst/>
          </a:prstGeom>
          <a:solidFill>
            <a:srgbClr val="1E293B">
              <a:alpha val="37647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22000" y="20320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ОСОБЕННОСТИ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22000" y="2476500"/>
            <a:ext cx="762000" cy="25400"/>
          </a:xfrm>
          <a:prstGeom prst="rect">
            <a:avLst/>
          </a:prstGeom>
          <a:solidFill>
            <a:srgbClr val="DA5096"/>
          </a:solidFill>
          <a:ln/>
        </p:spPr>
      </p:sp>
      <p:sp>
        <p:nvSpPr>
          <p:cNvPr id="11" name="Shape 9"/>
          <p:cNvSpPr/>
          <p:nvPr/>
        </p:nvSpPr>
        <p:spPr>
          <a:xfrm>
            <a:off x="10941050" y="2794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1353800" y="27305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Регулярные выражения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для гибкого поиска словоформ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41050" y="3746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353800" y="36830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Полный текст статьи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проверяется, не только заголовки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41050" y="469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1353800" y="46355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~200 ключевых слов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покрывают основные типы мошенничеств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41050" y="5651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353800" y="55880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Интегрирован в ETL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автоматический запуск при сборе данных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41050" y="6604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1353800" y="65405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Флаг is_fraud_related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сохраняется в БД для дальнейшей обработки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1E5278EC-6ADA-FB8C-4BC6-DA11D8D1DF0E}"/>
              </a:ext>
            </a:extLst>
          </p:cNvPr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ВТОРИЧНЫЙ ОТБОР — MCP-СЕРВЕР И ИИ-АНАЛИЗ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431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8225" y="215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05455" y="139254"/>
                </a:moveTo>
                <a:cubicBezTo>
                  <a:pt x="300107" y="117793"/>
                  <a:pt x="289967" y="101610"/>
                  <a:pt x="268367" y="101610"/>
                </a:cubicBezTo>
                <a:lnTo>
                  <a:pt x="240516" y="101610"/>
                </a:lnTo>
                <a:lnTo>
                  <a:pt x="240516" y="134531"/>
                </a:lnTo>
                <a:cubicBezTo>
                  <a:pt x="240516" y="160089"/>
                  <a:pt x="218847" y="181620"/>
                  <a:pt x="194121" y="181620"/>
                </a:cubicBezTo>
                <a:lnTo>
                  <a:pt x="119946" y="181620"/>
                </a:lnTo>
                <a:cubicBezTo>
                  <a:pt x="99665" y="181620"/>
                  <a:pt x="82858" y="198983"/>
                  <a:pt x="82858" y="219333"/>
                </a:cubicBezTo>
                <a:lnTo>
                  <a:pt x="82858" y="290036"/>
                </a:lnTo>
                <a:cubicBezTo>
                  <a:pt x="82858" y="310178"/>
                  <a:pt x="100360" y="321985"/>
                  <a:pt x="119946" y="327749"/>
                </a:cubicBezTo>
                <a:cubicBezTo>
                  <a:pt x="143421" y="334625"/>
                  <a:pt x="165993" y="335875"/>
                  <a:pt x="194121" y="327749"/>
                </a:cubicBezTo>
                <a:cubicBezTo>
                  <a:pt x="212804" y="322332"/>
                  <a:pt x="231209" y="311428"/>
                  <a:pt x="231209" y="290036"/>
                </a:cubicBezTo>
                <a:lnTo>
                  <a:pt x="231209" y="261769"/>
                </a:lnTo>
                <a:lnTo>
                  <a:pt x="157103" y="261769"/>
                </a:lnTo>
                <a:lnTo>
                  <a:pt x="157103" y="252323"/>
                </a:lnTo>
                <a:lnTo>
                  <a:pt x="268367" y="252323"/>
                </a:lnTo>
                <a:cubicBezTo>
                  <a:pt x="289967" y="252323"/>
                  <a:pt x="297954" y="237252"/>
                  <a:pt x="305455" y="214680"/>
                </a:cubicBezTo>
                <a:cubicBezTo>
                  <a:pt x="313234" y="191413"/>
                  <a:pt x="312886" y="169049"/>
                  <a:pt x="305455" y="139254"/>
                </a:cubicBezTo>
                <a:close/>
                <a:moveTo>
                  <a:pt x="198775" y="308858"/>
                </a:moveTo>
                <a:cubicBezTo>
                  <a:pt x="193489" y="309229"/>
                  <a:pt x="188438" y="306619"/>
                  <a:pt x="185682" y="302093"/>
                </a:cubicBezTo>
                <a:cubicBezTo>
                  <a:pt x="182926" y="297567"/>
                  <a:pt x="182926" y="291882"/>
                  <a:pt x="185682" y="287356"/>
                </a:cubicBezTo>
                <a:cubicBezTo>
                  <a:pt x="188438" y="282830"/>
                  <a:pt x="193489" y="280220"/>
                  <a:pt x="198775" y="280591"/>
                </a:cubicBezTo>
                <a:cubicBezTo>
                  <a:pt x="204061" y="280220"/>
                  <a:pt x="209112" y="282830"/>
                  <a:pt x="211868" y="287356"/>
                </a:cubicBezTo>
                <a:cubicBezTo>
                  <a:pt x="214624" y="291882"/>
                  <a:pt x="214624" y="297567"/>
                  <a:pt x="211868" y="302093"/>
                </a:cubicBezTo>
                <a:cubicBezTo>
                  <a:pt x="209112" y="306619"/>
                  <a:pt x="204061" y="309229"/>
                  <a:pt x="198775" y="308858"/>
                </a:cubicBezTo>
                <a:close/>
                <a:moveTo>
                  <a:pt x="116542" y="172313"/>
                </a:moveTo>
                <a:lnTo>
                  <a:pt x="190718" y="172313"/>
                </a:lnTo>
                <a:cubicBezTo>
                  <a:pt x="211346" y="172313"/>
                  <a:pt x="227806" y="155297"/>
                  <a:pt x="227806" y="134600"/>
                </a:cubicBezTo>
                <a:lnTo>
                  <a:pt x="227806" y="63827"/>
                </a:lnTo>
                <a:cubicBezTo>
                  <a:pt x="227806" y="43686"/>
                  <a:pt x="210860" y="28615"/>
                  <a:pt x="190718" y="25211"/>
                </a:cubicBezTo>
                <a:cubicBezTo>
                  <a:pt x="165854" y="21114"/>
                  <a:pt x="138837" y="21322"/>
                  <a:pt x="116542" y="25281"/>
                </a:cubicBezTo>
                <a:cubicBezTo>
                  <a:pt x="85150" y="30837"/>
                  <a:pt x="79454" y="42436"/>
                  <a:pt x="79454" y="63897"/>
                </a:cubicBezTo>
                <a:lnTo>
                  <a:pt x="79454" y="92164"/>
                </a:lnTo>
                <a:lnTo>
                  <a:pt x="153700" y="92164"/>
                </a:lnTo>
                <a:lnTo>
                  <a:pt x="153700" y="101610"/>
                </a:lnTo>
                <a:lnTo>
                  <a:pt x="51604" y="101610"/>
                </a:lnTo>
                <a:cubicBezTo>
                  <a:pt x="30004" y="101610"/>
                  <a:pt x="11113" y="114598"/>
                  <a:pt x="5209" y="139254"/>
                </a:cubicBezTo>
                <a:cubicBezTo>
                  <a:pt x="-1597" y="167521"/>
                  <a:pt x="-1875" y="185162"/>
                  <a:pt x="5209" y="214680"/>
                </a:cubicBezTo>
                <a:cubicBezTo>
                  <a:pt x="10487" y="236627"/>
                  <a:pt x="23058" y="252323"/>
                  <a:pt x="44658" y="252323"/>
                </a:cubicBezTo>
                <a:lnTo>
                  <a:pt x="70148" y="252323"/>
                </a:lnTo>
                <a:lnTo>
                  <a:pt x="70148" y="218430"/>
                </a:lnTo>
                <a:cubicBezTo>
                  <a:pt x="70148" y="193913"/>
                  <a:pt x="91331" y="172313"/>
                  <a:pt x="116542" y="172313"/>
                </a:cubicBezTo>
                <a:close/>
                <a:moveTo>
                  <a:pt x="111958" y="44936"/>
                </a:moveTo>
                <a:cubicBezTo>
                  <a:pt x="119778" y="44936"/>
                  <a:pt x="126127" y="51285"/>
                  <a:pt x="126127" y="59105"/>
                </a:cubicBezTo>
                <a:cubicBezTo>
                  <a:pt x="126127" y="66924"/>
                  <a:pt x="119778" y="73273"/>
                  <a:pt x="111958" y="73273"/>
                </a:cubicBezTo>
                <a:cubicBezTo>
                  <a:pt x="104139" y="73273"/>
                  <a:pt x="97790" y="66924"/>
                  <a:pt x="97790" y="59105"/>
                </a:cubicBezTo>
                <a:cubicBezTo>
                  <a:pt x="97790" y="51285"/>
                  <a:pt x="104139" y="44936"/>
                  <a:pt x="111958" y="44936"/>
                </a:cubicBez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095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MCP-сервер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на Python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mcp_server/server.py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298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 2.5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локальная языковая модель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Запуск через Ollama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38225" y="3937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3873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JSON-ответ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от LLM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Структурированные данные для записи в БД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38225" y="482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120362"/>
                </a:lnTo>
                <a:cubicBezTo>
                  <a:pt x="311150" y="108555"/>
                  <a:pt x="306497" y="97234"/>
                  <a:pt x="298162" y="88900"/>
                </a:cubicBezTo>
                <a:lnTo>
                  <a:pt x="244475" y="35213"/>
                </a:lnTo>
                <a:cubicBezTo>
                  <a:pt x="236141" y="26878"/>
                  <a:pt x="224820" y="22225"/>
                  <a:pt x="213013" y="22225"/>
                </a:cubicBezTo>
                <a:lnTo>
                  <a:pt x="44450" y="22225"/>
                </a:lnTo>
                <a:close/>
                <a:moveTo>
                  <a:pt x="66675" y="88900"/>
                </a:moveTo>
                <a:cubicBezTo>
                  <a:pt x="66675" y="76607"/>
                  <a:pt x="76607" y="66675"/>
                  <a:pt x="88900" y="66675"/>
                </a:cubicBezTo>
                <a:lnTo>
                  <a:pt x="200025" y="66675"/>
                </a:lnTo>
                <a:cubicBezTo>
                  <a:pt x="212318" y="66675"/>
                  <a:pt x="222250" y="76607"/>
                  <a:pt x="222250" y="88900"/>
                </a:cubicBezTo>
                <a:lnTo>
                  <a:pt x="222250" y="133350"/>
                </a:lnTo>
                <a:cubicBezTo>
                  <a:pt x="222250" y="145643"/>
                  <a:pt x="212318" y="155575"/>
                  <a:pt x="200025" y="155575"/>
                </a:cubicBezTo>
                <a:lnTo>
                  <a:pt x="88900" y="155575"/>
                </a:lnTo>
                <a:cubicBezTo>
                  <a:pt x="76607" y="155575"/>
                  <a:pt x="66675" y="145643"/>
                  <a:pt x="66675" y="133350"/>
                </a:cubicBezTo>
                <a:lnTo>
                  <a:pt x="66675" y="88900"/>
                </a:lnTo>
                <a:close/>
                <a:moveTo>
                  <a:pt x="155575" y="200025"/>
                </a:moveTo>
                <a:cubicBezTo>
                  <a:pt x="180108" y="200025"/>
                  <a:pt x="200025" y="219942"/>
                  <a:pt x="200025" y="244475"/>
                </a:cubicBezTo>
                <a:cubicBezTo>
                  <a:pt x="200025" y="269008"/>
                  <a:pt x="180108" y="288925"/>
                  <a:pt x="155575" y="288925"/>
                </a:cubicBezTo>
                <a:cubicBezTo>
                  <a:pt x="131042" y="288925"/>
                  <a:pt x="111125" y="269008"/>
                  <a:pt x="111125" y="244475"/>
                </a:cubicBezTo>
                <a:cubicBezTo>
                  <a:pt x="111125" y="219942"/>
                  <a:pt x="131042" y="200025"/>
                  <a:pt x="155575" y="200025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1498600" y="4762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Сохранение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 таблицу fraud_articles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is_fraud_scheme, summary, advice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1397000"/>
            <a:ext cx="7112000" cy="431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6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АЛГОРИТМ РАБОТЫ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36000" y="2159000"/>
            <a:ext cx="406400" cy="4064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2159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30979" y="2095500"/>
            <a:ext cx="604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Сервер находит статьи с </a:t>
            </a:r>
            <a:r>
              <a:rPr lang="en-US" sz="1600" dirty="0">
                <a:solidFill>
                  <a:srgbClr val="AA44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is_fraud_related = TRUE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36000" y="2921000"/>
            <a:ext cx="406400" cy="4064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2857500"/>
            <a:ext cx="406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30979" y="2857500"/>
            <a:ext cx="604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Отправляет текст статьи в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 2.5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со специальным промптом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3683000"/>
            <a:ext cx="406400" cy="4064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24" name="Text 22"/>
          <p:cNvSpPr/>
          <p:nvPr/>
        </p:nvSpPr>
        <p:spPr>
          <a:xfrm>
            <a:off x="8636000" y="3708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30979" y="3619500"/>
            <a:ext cx="604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анализирует и возвращает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 вердиктом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4445000"/>
            <a:ext cx="406400" cy="4064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27" name="Text 25"/>
          <p:cNvSpPr/>
          <p:nvPr/>
        </p:nvSpPr>
        <p:spPr>
          <a:xfrm>
            <a:off x="8636000" y="44323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30979" y="4318000"/>
            <a:ext cx="604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 сохраняется в таблицу</a:t>
            </a:r>
            <a:r>
              <a:rPr lang="en-US" sz="1600" dirty="0">
                <a:solidFill>
                  <a:srgbClr val="AA44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fraud_articles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096000"/>
            <a:ext cx="14732000" cy="23495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000" y="622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ОТВЕТ ОТ LLM (JSON)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6000" y="6578600"/>
            <a:ext cx="1422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"is_fraud_scheme"</a:t>
            </a: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sz="1400" dirty="0">
                <a:solidFill>
                  <a:srgbClr val="DA5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"summary"</a:t>
            </a: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sz="14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"Краткое описание сути мошеннической схемы..."</a:t>
            </a: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"advice"</a:t>
            </a: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[</a:t>
            </a:r>
            <a:r>
              <a:rPr lang="en-US" sz="14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"Совет 1"</a:t>
            </a: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4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"Совет 2"</a:t>
            </a: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4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"Совет 3"</a:t>
            </a: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38A4586E-B649-9BB6-EAE9-CA1EBD2CB1BC}"/>
              </a:ext>
            </a:extLst>
          </p:cNvPr>
          <p:cNvSpPr/>
          <p:nvPr/>
        </p:nvSpPr>
        <p:spPr>
          <a:xfrm>
            <a:off x="762000" y="10287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РЕЗУЛЬТАТЫ ВТОРИЧНОГО ОТБОРА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71600"/>
            <a:ext cx="14732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444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dirty="0">
                <a:solidFill>
                  <a:srgbClr val="AA44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16000" y="2413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первично-отобранных статей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0" y="1651000"/>
            <a:ext cx="12700" cy="1016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5842000" y="1460500"/>
            <a:ext cx="444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842000" y="2413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вторично-отобранных статей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414000" y="1651000"/>
            <a:ext cx="12700" cy="1016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0" y="14605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dirty="0">
                <a:solidFill>
                  <a:srgbClr val="AA44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10668000" y="2413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отсеяно (аналитика, обзоры, суды)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302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ПРИМЕРЫ ОТОБРАННЫХ СТАТЕЙ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810000"/>
            <a:ext cx="46990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3810000"/>
            <a:ext cx="4699000" cy="508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17" name="Text 15"/>
          <p:cNvSpPr/>
          <p:nvPr/>
        </p:nvSpPr>
        <p:spPr>
          <a:xfrm>
            <a:off x="965200" y="40132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Фишинговые подделки под криптокошельки в App Store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47498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Мошенники создают фейковые приложения для кражи криптовалют.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Сгенерированы описание + советы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78500" y="3810000"/>
            <a:ext cx="46990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8500" y="3810000"/>
            <a:ext cx="4699000" cy="508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21" name="Text 19"/>
          <p:cNvSpPr/>
          <p:nvPr/>
        </p:nvSpPr>
        <p:spPr>
          <a:xfrm>
            <a:off x="5981700" y="40132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ИИ-шлюз для кражи ваших данных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81700" y="47498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Атака через вредоносные Python-библиотеки.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Сгенерированы описание + советы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95000" y="3810000"/>
            <a:ext cx="46990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95000" y="3810000"/>
            <a:ext cx="4699000" cy="508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25" name="Text 23"/>
          <p:cNvSpPr/>
          <p:nvPr/>
        </p:nvSpPr>
        <p:spPr>
          <a:xfrm>
            <a:off x="10998200" y="40132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Спам и фишинг, направленный на налогоплательщиков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98200" y="47498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Поддельные сайты налоговых служб.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5D7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Сгенерированы описание + советы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641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ДЛЯ КАЖДОЙ СТАТЬИ ГЕНЕРИРУЕТСЯ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882760"/>
            <a:ext cx="14732000" cy="1714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2476500" y="7175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965200" y="7620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Краткое описание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сути схемы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42200" y="717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842000" y="7620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ru-RU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</a:t>
            </a:r>
            <a:r>
              <a:rPr lang="en-US" sz="1500" dirty="0" err="1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рактически</a:t>
            </a:r>
            <a:r>
              <a:rPr lang="ru-RU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 err="1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совет</a:t>
            </a:r>
            <a:r>
              <a:rPr lang="ru-RU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ы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по защите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192000" y="7175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11125" y="0"/>
                </a:moveTo>
                <a:cubicBezTo>
                  <a:pt x="123418" y="0"/>
                  <a:pt x="133350" y="9932"/>
                  <a:pt x="133350" y="22225"/>
                </a:cubicBezTo>
                <a:lnTo>
                  <a:pt x="133350" y="44450"/>
                </a:lnTo>
                <a:lnTo>
                  <a:pt x="222250" y="44450"/>
                </a:lnTo>
                <a:cubicBezTo>
                  <a:pt x="234543" y="44450"/>
                  <a:pt x="244475" y="54382"/>
                  <a:pt x="244475" y="66675"/>
                </a:cubicBezTo>
                <a:cubicBezTo>
                  <a:pt x="244475" y="78968"/>
                  <a:pt x="234543" y="88900"/>
                  <a:pt x="222250" y="88900"/>
                </a:cubicBezTo>
                <a:lnTo>
                  <a:pt x="215583" y="88900"/>
                </a:lnTo>
                <a:lnTo>
                  <a:pt x="209748" y="104944"/>
                </a:lnTo>
                <a:cubicBezTo>
                  <a:pt x="198358" y="136336"/>
                  <a:pt x="181203" y="165021"/>
                  <a:pt x="159603" y="189676"/>
                </a:cubicBezTo>
                <a:cubicBezTo>
                  <a:pt x="169466" y="195788"/>
                  <a:pt x="179745" y="201206"/>
                  <a:pt x="190440" y="205998"/>
                </a:cubicBezTo>
                <a:lnTo>
                  <a:pt x="225445" y="221555"/>
                </a:lnTo>
                <a:lnTo>
                  <a:pt x="268645" y="124321"/>
                </a:lnTo>
                <a:cubicBezTo>
                  <a:pt x="272187" y="116265"/>
                  <a:pt x="280174" y="111125"/>
                  <a:pt x="288925" y="111125"/>
                </a:cubicBezTo>
                <a:cubicBezTo>
                  <a:pt x="297676" y="111125"/>
                  <a:pt x="305663" y="116265"/>
                  <a:pt x="309205" y="124321"/>
                </a:cubicBezTo>
                <a:lnTo>
                  <a:pt x="398105" y="324346"/>
                </a:lnTo>
                <a:cubicBezTo>
                  <a:pt x="403106" y="335598"/>
                  <a:pt x="398036" y="348724"/>
                  <a:pt x="386854" y="353655"/>
                </a:cubicBezTo>
                <a:cubicBezTo>
                  <a:pt x="375672" y="358586"/>
                  <a:pt x="362476" y="353586"/>
                  <a:pt x="357545" y="342404"/>
                </a:cubicBezTo>
                <a:lnTo>
                  <a:pt x="343654" y="311150"/>
                </a:lnTo>
                <a:lnTo>
                  <a:pt x="234265" y="311150"/>
                </a:lnTo>
                <a:lnTo>
                  <a:pt x="220375" y="342404"/>
                </a:lnTo>
                <a:cubicBezTo>
                  <a:pt x="215374" y="353655"/>
                  <a:pt x="202247" y="358656"/>
                  <a:pt x="191066" y="353655"/>
                </a:cubicBezTo>
                <a:cubicBezTo>
                  <a:pt x="179884" y="348655"/>
                  <a:pt x="174814" y="335528"/>
                  <a:pt x="179814" y="324346"/>
                </a:cubicBezTo>
                <a:lnTo>
                  <a:pt x="207456" y="262186"/>
                </a:lnTo>
                <a:lnTo>
                  <a:pt x="172452" y="246628"/>
                </a:lnTo>
                <a:cubicBezTo>
                  <a:pt x="156478" y="239544"/>
                  <a:pt x="141198" y="231071"/>
                  <a:pt x="126752" y="221347"/>
                </a:cubicBezTo>
                <a:cubicBezTo>
                  <a:pt x="111958" y="233293"/>
                  <a:pt x="95776" y="243711"/>
                  <a:pt x="78482" y="252393"/>
                </a:cubicBezTo>
                <a:lnTo>
                  <a:pt x="54382" y="264339"/>
                </a:lnTo>
                <a:cubicBezTo>
                  <a:pt x="43408" y="269825"/>
                  <a:pt x="30073" y="265380"/>
                  <a:pt x="24586" y="254407"/>
                </a:cubicBezTo>
                <a:cubicBezTo>
                  <a:pt x="19100" y="243433"/>
                  <a:pt x="23545" y="230098"/>
                  <a:pt x="34518" y="224611"/>
                </a:cubicBezTo>
                <a:lnTo>
                  <a:pt x="58480" y="212596"/>
                </a:lnTo>
                <a:cubicBezTo>
                  <a:pt x="69800" y="206901"/>
                  <a:pt x="80566" y="200303"/>
                  <a:pt x="90706" y="192941"/>
                </a:cubicBezTo>
                <a:cubicBezTo>
                  <a:pt x="81121" y="184120"/>
                  <a:pt x="72092" y="174605"/>
                  <a:pt x="63689" y="164534"/>
                </a:cubicBezTo>
                <a:lnTo>
                  <a:pt x="56674" y="156061"/>
                </a:lnTo>
                <a:cubicBezTo>
                  <a:pt x="48826" y="146616"/>
                  <a:pt x="50076" y="132586"/>
                  <a:pt x="59521" y="124738"/>
                </a:cubicBezTo>
                <a:cubicBezTo>
                  <a:pt x="68967" y="116890"/>
                  <a:pt x="82996" y="118140"/>
                  <a:pt x="90845" y="127585"/>
                </a:cubicBezTo>
                <a:lnTo>
                  <a:pt x="97929" y="136059"/>
                </a:lnTo>
                <a:cubicBezTo>
                  <a:pt x="105916" y="145713"/>
                  <a:pt x="114667" y="154672"/>
                  <a:pt x="123904" y="162937"/>
                </a:cubicBezTo>
                <a:cubicBezTo>
                  <a:pt x="143004" y="141823"/>
                  <a:pt x="158075" y="117029"/>
                  <a:pt x="168007" y="89733"/>
                </a:cubicBezTo>
                <a:lnTo>
                  <a:pt x="168354" y="88900"/>
                </a:lnTo>
                <a:lnTo>
                  <a:pt x="22294" y="88900"/>
                </a:lnTo>
                <a:cubicBezTo>
                  <a:pt x="9932" y="88900"/>
                  <a:pt x="0" y="78968"/>
                  <a:pt x="0" y="66675"/>
                </a:cubicBezTo>
                <a:cubicBezTo>
                  <a:pt x="0" y="54382"/>
                  <a:pt x="9932" y="44450"/>
                  <a:pt x="22225" y="44450"/>
                </a:cubicBezTo>
                <a:lnTo>
                  <a:pt x="88900" y="44450"/>
                </a:lnTo>
                <a:lnTo>
                  <a:pt x="88900" y="22225"/>
                </a:lnTo>
                <a:cubicBezTo>
                  <a:pt x="88900" y="9932"/>
                  <a:pt x="98832" y="0"/>
                  <a:pt x="111125" y="0"/>
                </a:cubicBezTo>
                <a:close/>
                <a:moveTo>
                  <a:pt x="288925" y="188079"/>
                </a:moveTo>
                <a:lnTo>
                  <a:pt x="253990" y="266700"/>
                </a:lnTo>
                <a:lnTo>
                  <a:pt x="323860" y="266700"/>
                </a:lnTo>
                <a:lnTo>
                  <a:pt x="288925" y="188079"/>
                </a:lnTo>
                <a:close/>
              </a:path>
            </a:pathLst>
          </a:custGeom>
          <a:solidFill>
            <a:srgbClr val="DA5096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8000" y="7620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Простой язык,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понятный пользователю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SHINY-ПРИЛОЖЕНИЕ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ФУНКЦИОНАЛЬНОСТЬ ДАШБОРДА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3429000" cy="190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8200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254000" y="412750"/>
                </a:moveTo>
                <a:cubicBezTo>
                  <a:pt x="289024" y="412750"/>
                  <a:pt x="317500" y="384274"/>
                  <a:pt x="317500" y="349250"/>
                </a:cubicBezTo>
                <a:cubicBezTo>
                  <a:pt x="317500" y="333177"/>
                  <a:pt x="311547" y="318393"/>
                  <a:pt x="301625" y="307280"/>
                </a:cubicBezTo>
                <a:lnTo>
                  <a:pt x="370582" y="169466"/>
                </a:lnTo>
                <a:cubicBezTo>
                  <a:pt x="376436" y="157659"/>
                  <a:pt x="371673" y="143371"/>
                  <a:pt x="359966" y="137517"/>
                </a:cubicBezTo>
                <a:cubicBezTo>
                  <a:pt x="348258" y="131663"/>
                  <a:pt x="333871" y="136426"/>
                  <a:pt x="328017" y="148134"/>
                </a:cubicBezTo>
                <a:lnTo>
                  <a:pt x="259060" y="285948"/>
                </a:lnTo>
                <a:cubicBezTo>
                  <a:pt x="257373" y="285849"/>
                  <a:pt x="255687" y="285750"/>
                  <a:pt x="254000" y="285750"/>
                </a:cubicBezTo>
                <a:cubicBezTo>
                  <a:pt x="218976" y="285750"/>
                  <a:pt x="190500" y="314226"/>
                  <a:pt x="190500" y="349250"/>
                </a:cubicBezTo>
                <a:cubicBezTo>
                  <a:pt x="190500" y="384274"/>
                  <a:pt x="218976" y="412750"/>
                  <a:pt x="254000" y="412750"/>
                </a:cubicBezTo>
                <a:close/>
                <a:moveTo>
                  <a:pt x="174625" y="142875"/>
                </a:moveTo>
                <a:cubicBezTo>
                  <a:pt x="174625" y="125352"/>
                  <a:pt x="160398" y="111125"/>
                  <a:pt x="142875" y="111125"/>
                </a:cubicBezTo>
                <a:cubicBezTo>
                  <a:pt x="125352" y="111125"/>
                  <a:pt x="111125" y="125352"/>
                  <a:pt x="111125" y="142875"/>
                </a:cubicBezTo>
                <a:cubicBezTo>
                  <a:pt x="111125" y="160398"/>
                  <a:pt x="125352" y="174625"/>
                  <a:pt x="142875" y="174625"/>
                </a:cubicBezTo>
                <a:cubicBezTo>
                  <a:pt x="160398" y="174625"/>
                  <a:pt x="174625" y="160398"/>
                  <a:pt x="174625" y="142875"/>
                </a:cubicBezTo>
                <a:close/>
                <a:moveTo>
                  <a:pt x="95250" y="285750"/>
                </a:moveTo>
                <a:cubicBezTo>
                  <a:pt x="112773" y="285750"/>
                  <a:pt x="127000" y="271523"/>
                  <a:pt x="127000" y="254000"/>
                </a:cubicBezTo>
                <a:cubicBezTo>
                  <a:pt x="127000" y="236477"/>
                  <a:pt x="112773" y="222250"/>
                  <a:pt x="95250" y="222250"/>
                </a:cubicBezTo>
                <a:cubicBezTo>
                  <a:pt x="77727" y="222250"/>
                  <a:pt x="63500" y="236477"/>
                  <a:pt x="63500" y="254000"/>
                </a:cubicBezTo>
                <a:cubicBezTo>
                  <a:pt x="63500" y="271523"/>
                  <a:pt x="77727" y="285750"/>
                  <a:pt x="95250" y="285750"/>
                </a:cubicBezTo>
                <a:close/>
                <a:moveTo>
                  <a:pt x="444500" y="254000"/>
                </a:moveTo>
                <a:cubicBezTo>
                  <a:pt x="444500" y="236477"/>
                  <a:pt x="430273" y="222250"/>
                  <a:pt x="412750" y="222250"/>
                </a:cubicBezTo>
                <a:cubicBezTo>
                  <a:pt x="395227" y="222250"/>
                  <a:pt x="381000" y="236477"/>
                  <a:pt x="381000" y="254000"/>
                </a:cubicBezTo>
                <a:cubicBezTo>
                  <a:pt x="381000" y="271523"/>
                  <a:pt x="395227" y="285750"/>
                  <a:pt x="412750" y="285750"/>
                </a:cubicBezTo>
                <a:cubicBezTo>
                  <a:pt x="430273" y="285750"/>
                  <a:pt x="444500" y="271523"/>
                  <a:pt x="444500" y="254000"/>
                </a:cubicBez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730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KPI-КАРТОЧКИ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3111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Общее количество статей и выявленных схем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0" y="1905000"/>
            <a:ext cx="3429000" cy="190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22950" y="2095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54000" y="158750"/>
                </a:moveTo>
                <a:lnTo>
                  <a:pt x="254000" y="254000"/>
                </a:lnTo>
                <a:lnTo>
                  <a:pt x="381000" y="254000"/>
                </a:lnTo>
                <a:lnTo>
                  <a:pt x="381000" y="158750"/>
                </a:lnTo>
                <a:lnTo>
                  <a:pt x="254000" y="158750"/>
                </a:lnTo>
                <a:close/>
                <a:moveTo>
                  <a:pt x="190500" y="158750"/>
                </a:moveTo>
                <a:lnTo>
                  <a:pt x="63500" y="158750"/>
                </a:lnTo>
                <a:lnTo>
                  <a:pt x="63500" y="254000"/>
                </a:lnTo>
                <a:lnTo>
                  <a:pt x="190500" y="254000"/>
                </a:lnTo>
                <a:lnTo>
                  <a:pt x="190500" y="158750"/>
                </a:lnTo>
                <a:close/>
                <a:moveTo>
                  <a:pt x="0" y="317500"/>
                </a:moveTo>
                <a:lnTo>
                  <a:pt x="0" y="95250"/>
                </a:lnTo>
                <a:cubicBezTo>
                  <a:pt x="0" y="60226"/>
                  <a:pt x="28476" y="31750"/>
                  <a:pt x="63500" y="31750"/>
                </a:cubicBez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317500"/>
                </a:lnTo>
                <a:close/>
                <a:moveTo>
                  <a:pt x="381000" y="317500"/>
                </a:moveTo>
                <a:lnTo>
                  <a:pt x="254000" y="317500"/>
                </a:lnTo>
                <a:lnTo>
                  <a:pt x="254000" y="412750"/>
                </a:lnTo>
                <a:lnTo>
                  <a:pt x="381000" y="412750"/>
                </a:lnTo>
                <a:lnTo>
                  <a:pt x="381000" y="317500"/>
                </a:lnTo>
                <a:close/>
                <a:moveTo>
                  <a:pt x="190500" y="412750"/>
                </a:moveTo>
                <a:lnTo>
                  <a:pt x="190500" y="317500"/>
                </a:lnTo>
                <a:lnTo>
                  <a:pt x="63500" y="317500"/>
                </a:lnTo>
                <a:lnTo>
                  <a:pt x="63500" y="412750"/>
                </a:lnTo>
                <a:lnTo>
                  <a:pt x="190500" y="412750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7305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ТАБЛИЦА ПРЕДУПРЕЖДЕНИЙ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111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 предупреждения с фильтрацией и поиском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1905000"/>
            <a:ext cx="3429000" cy="190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4200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DA50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55000" y="2730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КАРТОЧКИ УГРОЗ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5000" y="3111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Последние выявленные мошеннические схемы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1905000"/>
            <a:ext cx="3683000" cy="190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52450" y="2095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95250" y="0"/>
                </a:moveTo>
                <a:cubicBezTo>
                  <a:pt x="60226" y="0"/>
                  <a:pt x="31750" y="28476"/>
                  <a:pt x="31750" y="63500"/>
                </a:cubicBezTo>
                <a:lnTo>
                  <a:pt x="31750" y="444500"/>
                </a:lnTo>
                <a:cubicBezTo>
                  <a:pt x="31750" y="479524"/>
                  <a:pt x="60226" y="508000"/>
                  <a:pt x="95250" y="508000"/>
                </a:cubicBezTo>
                <a:lnTo>
                  <a:pt x="174625" y="508000"/>
                </a:lnTo>
                <a:lnTo>
                  <a:pt x="174625" y="396875"/>
                </a:lnTo>
                <a:cubicBezTo>
                  <a:pt x="174625" y="361851"/>
                  <a:pt x="203101" y="333375"/>
                  <a:pt x="238125" y="333375"/>
                </a:cubicBezTo>
                <a:lnTo>
                  <a:pt x="412750" y="333375"/>
                </a:lnTo>
                <a:lnTo>
                  <a:pt x="412750" y="169168"/>
                </a:lnTo>
                <a:cubicBezTo>
                  <a:pt x="412750" y="152301"/>
                  <a:pt x="406102" y="136128"/>
                  <a:pt x="394196" y="124222"/>
                </a:cubicBezTo>
                <a:lnTo>
                  <a:pt x="288429" y="18554"/>
                </a:lnTo>
                <a:cubicBezTo>
                  <a:pt x="276523" y="6648"/>
                  <a:pt x="260449" y="0"/>
                  <a:pt x="243582" y="0"/>
                </a:cubicBezTo>
                <a:lnTo>
                  <a:pt x="95250" y="0"/>
                </a:lnTo>
                <a:close/>
                <a:moveTo>
                  <a:pt x="354707" y="174625"/>
                </a:moveTo>
                <a:lnTo>
                  <a:pt x="261937" y="174625"/>
                </a:lnTo>
                <a:cubicBezTo>
                  <a:pt x="248741" y="174625"/>
                  <a:pt x="238125" y="164009"/>
                  <a:pt x="238125" y="150813"/>
                </a:cubicBezTo>
                <a:lnTo>
                  <a:pt x="238125" y="58043"/>
                </a:lnTo>
                <a:lnTo>
                  <a:pt x="354707" y="174625"/>
                </a:lnTo>
                <a:close/>
                <a:moveTo>
                  <a:pt x="261937" y="377031"/>
                </a:moveTo>
                <a:cubicBezTo>
                  <a:pt x="237827" y="377031"/>
                  <a:pt x="218281" y="396577"/>
                  <a:pt x="218281" y="420688"/>
                </a:cubicBezTo>
                <a:lnTo>
                  <a:pt x="218281" y="500063"/>
                </a:lnTo>
                <a:cubicBezTo>
                  <a:pt x="218281" y="524173"/>
                  <a:pt x="237827" y="543719"/>
                  <a:pt x="261937" y="543719"/>
                </a:cubicBezTo>
                <a:lnTo>
                  <a:pt x="277813" y="543719"/>
                </a:lnTo>
                <a:cubicBezTo>
                  <a:pt x="301923" y="543719"/>
                  <a:pt x="321469" y="524173"/>
                  <a:pt x="321469" y="500063"/>
                </a:cubicBezTo>
                <a:lnTo>
                  <a:pt x="321469" y="492125"/>
                </a:lnTo>
                <a:cubicBezTo>
                  <a:pt x="321469" y="481211"/>
                  <a:pt x="312539" y="472281"/>
                  <a:pt x="301625" y="472281"/>
                </a:cubicBezTo>
                <a:cubicBezTo>
                  <a:pt x="290711" y="472281"/>
                  <a:pt x="281781" y="481211"/>
                  <a:pt x="281781" y="492125"/>
                </a:cubicBezTo>
                <a:lnTo>
                  <a:pt x="281781" y="500063"/>
                </a:lnTo>
                <a:cubicBezTo>
                  <a:pt x="281781" y="502245"/>
                  <a:pt x="279995" y="504031"/>
                  <a:pt x="277813" y="504031"/>
                </a:cubicBezTo>
                <a:lnTo>
                  <a:pt x="261937" y="504031"/>
                </a:lnTo>
                <a:cubicBezTo>
                  <a:pt x="259755" y="504031"/>
                  <a:pt x="257969" y="502245"/>
                  <a:pt x="257969" y="500063"/>
                </a:cubicBezTo>
                <a:lnTo>
                  <a:pt x="257969" y="420688"/>
                </a:lnTo>
                <a:cubicBezTo>
                  <a:pt x="257969" y="418505"/>
                  <a:pt x="259755" y="416719"/>
                  <a:pt x="261937" y="416719"/>
                </a:cubicBezTo>
                <a:lnTo>
                  <a:pt x="277813" y="416719"/>
                </a:lnTo>
                <a:cubicBezTo>
                  <a:pt x="279995" y="416719"/>
                  <a:pt x="281781" y="418505"/>
                  <a:pt x="281781" y="420688"/>
                </a:cubicBezTo>
                <a:lnTo>
                  <a:pt x="281781" y="428625"/>
                </a:lnTo>
                <a:cubicBezTo>
                  <a:pt x="281781" y="439539"/>
                  <a:pt x="290711" y="448469"/>
                  <a:pt x="301625" y="448469"/>
                </a:cubicBezTo>
                <a:cubicBezTo>
                  <a:pt x="312539" y="448469"/>
                  <a:pt x="321469" y="439539"/>
                  <a:pt x="321469" y="428625"/>
                </a:cubicBezTo>
                <a:lnTo>
                  <a:pt x="321469" y="420688"/>
                </a:lnTo>
                <a:cubicBezTo>
                  <a:pt x="321469" y="396577"/>
                  <a:pt x="301923" y="377031"/>
                  <a:pt x="277813" y="377031"/>
                </a:cubicBezTo>
                <a:lnTo>
                  <a:pt x="261937" y="377031"/>
                </a:lnTo>
                <a:close/>
                <a:moveTo>
                  <a:pt x="396875" y="377031"/>
                </a:moveTo>
                <a:cubicBezTo>
                  <a:pt x="368399" y="377031"/>
                  <a:pt x="345281" y="400149"/>
                  <a:pt x="345281" y="428625"/>
                </a:cubicBezTo>
                <a:cubicBezTo>
                  <a:pt x="345281" y="457101"/>
                  <a:pt x="368399" y="480219"/>
                  <a:pt x="396875" y="480219"/>
                </a:cubicBezTo>
                <a:cubicBezTo>
                  <a:pt x="403423" y="480219"/>
                  <a:pt x="408781" y="485577"/>
                  <a:pt x="408781" y="492125"/>
                </a:cubicBezTo>
                <a:cubicBezTo>
                  <a:pt x="408781" y="498673"/>
                  <a:pt x="403423" y="504031"/>
                  <a:pt x="396875" y="504031"/>
                </a:cubicBezTo>
                <a:lnTo>
                  <a:pt x="365125" y="504031"/>
                </a:lnTo>
                <a:cubicBezTo>
                  <a:pt x="354211" y="504031"/>
                  <a:pt x="345281" y="512961"/>
                  <a:pt x="345281" y="523875"/>
                </a:cubicBezTo>
                <a:cubicBezTo>
                  <a:pt x="345281" y="534789"/>
                  <a:pt x="354211" y="543719"/>
                  <a:pt x="365125" y="543719"/>
                </a:cubicBezTo>
                <a:lnTo>
                  <a:pt x="396875" y="543719"/>
                </a:lnTo>
                <a:cubicBezTo>
                  <a:pt x="425351" y="543719"/>
                  <a:pt x="448469" y="520601"/>
                  <a:pt x="448469" y="492125"/>
                </a:cubicBezTo>
                <a:cubicBezTo>
                  <a:pt x="448469" y="463649"/>
                  <a:pt x="425351" y="440531"/>
                  <a:pt x="396875" y="440531"/>
                </a:cubicBezTo>
                <a:cubicBezTo>
                  <a:pt x="390327" y="440531"/>
                  <a:pt x="384969" y="435173"/>
                  <a:pt x="384969" y="428625"/>
                </a:cubicBezTo>
                <a:cubicBezTo>
                  <a:pt x="384969" y="422077"/>
                  <a:pt x="390327" y="416719"/>
                  <a:pt x="396875" y="416719"/>
                </a:cubicBezTo>
                <a:lnTo>
                  <a:pt x="420688" y="416719"/>
                </a:lnTo>
                <a:cubicBezTo>
                  <a:pt x="431602" y="416719"/>
                  <a:pt x="440531" y="407789"/>
                  <a:pt x="440531" y="396875"/>
                </a:cubicBezTo>
                <a:cubicBezTo>
                  <a:pt x="440531" y="385961"/>
                  <a:pt x="431602" y="377031"/>
                  <a:pt x="420688" y="377031"/>
                </a:cubicBezTo>
                <a:lnTo>
                  <a:pt x="396875" y="377031"/>
                </a:lnTo>
                <a:close/>
                <a:moveTo>
                  <a:pt x="492125" y="377031"/>
                </a:moveTo>
                <a:cubicBezTo>
                  <a:pt x="481211" y="377031"/>
                  <a:pt x="472281" y="385961"/>
                  <a:pt x="472281" y="396875"/>
                </a:cubicBezTo>
                <a:lnTo>
                  <a:pt x="472281" y="428228"/>
                </a:lnTo>
                <a:cubicBezTo>
                  <a:pt x="472281" y="463451"/>
                  <a:pt x="482699" y="497979"/>
                  <a:pt x="502245" y="527248"/>
                </a:cubicBezTo>
                <a:lnTo>
                  <a:pt x="507305" y="534888"/>
                </a:lnTo>
                <a:cubicBezTo>
                  <a:pt x="510977" y="540445"/>
                  <a:pt x="517227" y="543719"/>
                  <a:pt x="523776" y="543719"/>
                </a:cubicBezTo>
                <a:cubicBezTo>
                  <a:pt x="530324" y="543719"/>
                  <a:pt x="536575" y="540445"/>
                  <a:pt x="540246" y="534888"/>
                </a:cubicBezTo>
                <a:lnTo>
                  <a:pt x="545306" y="527248"/>
                </a:lnTo>
                <a:cubicBezTo>
                  <a:pt x="564852" y="497880"/>
                  <a:pt x="575270" y="463451"/>
                  <a:pt x="575270" y="428228"/>
                </a:cubicBezTo>
                <a:lnTo>
                  <a:pt x="575270" y="396875"/>
                </a:lnTo>
                <a:cubicBezTo>
                  <a:pt x="575270" y="385961"/>
                  <a:pt x="566341" y="377031"/>
                  <a:pt x="555427" y="377031"/>
                </a:cubicBezTo>
                <a:cubicBezTo>
                  <a:pt x="544513" y="377031"/>
                  <a:pt x="535583" y="385961"/>
                  <a:pt x="535583" y="396875"/>
                </a:cubicBezTo>
                <a:lnTo>
                  <a:pt x="535583" y="428228"/>
                </a:lnTo>
                <a:cubicBezTo>
                  <a:pt x="535583" y="447675"/>
                  <a:pt x="531515" y="466824"/>
                  <a:pt x="523677" y="484485"/>
                </a:cubicBezTo>
                <a:cubicBezTo>
                  <a:pt x="515838" y="466824"/>
                  <a:pt x="511770" y="447675"/>
                  <a:pt x="511770" y="428228"/>
                </a:cubicBezTo>
                <a:lnTo>
                  <a:pt x="511770" y="396875"/>
                </a:lnTo>
                <a:cubicBezTo>
                  <a:pt x="511770" y="385961"/>
                  <a:pt x="502841" y="377031"/>
                  <a:pt x="491927" y="3770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1938000" y="2730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ЭКСПОРТ В CSV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38000" y="311150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Выгрузка данных для дальнейшего анализа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19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ТЕКУЩИЙ СТАТУС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699000"/>
            <a:ext cx="7112000" cy="165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DA50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000" y="4889500"/>
            <a:ext cx="1016000" cy="355600"/>
          </a:xfrm>
          <a:prstGeom prst="rect">
            <a:avLst/>
          </a:prstGeom>
          <a:solidFill>
            <a:srgbClr val="DA5096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4889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СЕЙЧАС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5334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Работает с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CSV-файлом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(прототип)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Демонстрация интерфейса и базовой функциональности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4699000"/>
            <a:ext cx="7112000" cy="165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B5D79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36000" y="4889500"/>
            <a:ext cx="1270000" cy="3556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29" name="Text 27"/>
          <p:cNvSpPr/>
          <p:nvPr/>
        </p:nvSpPr>
        <p:spPr>
          <a:xfrm>
            <a:off x="8636000" y="48895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 ПЛАНАХ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5334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Подключение к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базе данных напрямую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Отображение советов, полная интеграция с MCP-сервером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ТЕСТИРОВАНИЕ СИСТЕМЫ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ПОЛНЫЙ ЦИКЛ ТЕСТИРОВАНИЯ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24000" y="2222500"/>
            <a:ext cx="0" cy="50165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422400" y="2095500"/>
            <a:ext cx="203200" cy="203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905000" y="20066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Docker-окружение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поднято: TT-RSS + PostgreSQL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Инфраструктура готова к работе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22400" y="3048000"/>
            <a:ext cx="203200" cy="203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905000" y="29591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Восстановлен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дамп базы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898 статей из ИБ-источников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специализированных источника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22400" y="4000500"/>
            <a:ext cx="203200" cy="203200"/>
          </a:xfrm>
          <a:prstGeom prst="ellipse">
            <a:avLst/>
          </a:prstGeom>
          <a:solidFill>
            <a:srgbClr val="DA5096"/>
          </a:solidFill>
          <a:ln/>
        </p:spPr>
      </p:sp>
      <p:sp>
        <p:nvSpPr>
          <p:cNvPr id="12" name="Text 10"/>
          <p:cNvSpPr/>
          <p:nvPr/>
        </p:nvSpPr>
        <p:spPr>
          <a:xfrm>
            <a:off x="1905000" y="38481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Запущен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словарный фильтр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60 статей прошли первичный отбор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A5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≈6.7% от общего объёма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22400" y="4953000"/>
            <a:ext cx="203200" cy="203200"/>
          </a:xfrm>
          <a:prstGeom prst="ellipse">
            <a:avLst/>
          </a:prstGeom>
          <a:solidFill>
            <a:srgbClr val="DA5096"/>
          </a:solidFill>
          <a:ln/>
        </p:spPr>
      </p:sp>
      <p:sp>
        <p:nvSpPr>
          <p:cNvPr id="14" name="Text 12"/>
          <p:cNvSpPr/>
          <p:nvPr/>
        </p:nvSpPr>
        <p:spPr>
          <a:xfrm>
            <a:off x="1905000" y="4953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Запущен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MCP-сервер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17 статей прошли вторичный отбор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A5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≈28% от отобранных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22400" y="5905500"/>
            <a:ext cx="203200" cy="203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905000" y="58166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Для каждой сгенерированы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описание и советы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через Qwen 2.5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JSON-ответы с summary и advice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22400" y="6858000"/>
            <a:ext cx="203200" cy="203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905000" y="67691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Данные отображены в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Shiny-прототипе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Полный цикл: сбор → анализ → отображение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90000" y="1905000"/>
            <a:ext cx="6604000" cy="5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1590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 ТЕСТИРОВАНИЯ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0" y="2667000"/>
            <a:ext cx="762000" cy="25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298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9575800" y="29210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 модули работают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корректно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0" y="374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9575800" y="36830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выдаёт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релевантные результаты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0" y="450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9575800" y="44450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Полный цикл от сбора до отображения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работает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0" y="527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9575800" y="52070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ИИ-анализ точно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отличает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схемы от обзоров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44000" y="603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9575800" y="59690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Описания и советы генерируются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качественно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A8E45-7C11-6716-7517-F3BD0A63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20FEDC-D371-B7CF-EFCB-0E28625559F3}"/>
              </a:ext>
            </a:extLst>
          </p:cNvPr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6A0ABF-6E4C-9893-5065-20D0562E2E77}"/>
              </a:ext>
            </a:extLst>
          </p:cNvPr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ТЕСТИРОВАНИЕ СИСТЕМЫ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CE1B38C-982F-8406-DA52-FEB50956D827}"/>
              </a:ext>
            </a:extLst>
          </p:cNvPr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AB87859-EA8A-6D94-6816-5B4026A229D1}"/>
              </a:ext>
            </a:extLst>
          </p:cNvPr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CACADC7-C4C7-B7CE-6863-FB87E2BD92D4}"/>
              </a:ext>
            </a:extLst>
          </p:cNvPr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  <p:pic>
        <p:nvPicPr>
          <p:cNvPr id="36" name="Рисунок 35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83C6A27-4775-4E4D-B05F-B35B56E026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684"/>
          <a:stretch/>
        </p:blipFill>
        <p:spPr>
          <a:xfrm>
            <a:off x="735900" y="1226819"/>
            <a:ext cx="11254170" cy="4495801"/>
          </a:xfrm>
          <a:prstGeom prst="rect">
            <a:avLst/>
          </a:prstGeom>
        </p:spPr>
      </p:pic>
      <p:pic>
        <p:nvPicPr>
          <p:cNvPr id="38" name="Рисунок 37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FCAE2BE-5413-9996-508A-177834530C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114" b="40589"/>
          <a:stretch/>
        </p:blipFill>
        <p:spPr>
          <a:xfrm>
            <a:off x="735900" y="5933439"/>
            <a:ext cx="9802560" cy="308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2327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9191C-F63F-D98B-4952-2544CABB3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4DF36F-54D7-F224-F9BA-8442207E2871}"/>
              </a:ext>
            </a:extLst>
          </p:cNvPr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8C3DE6-3A04-A3DE-01E3-1CDB2434B2D0}"/>
              </a:ext>
            </a:extLst>
          </p:cNvPr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ТЕСТИРОВАНИЕ СИСТЕМЫ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01FA6E7-5B85-D9EF-5050-5D697333FBA7}"/>
              </a:ext>
            </a:extLst>
          </p:cNvPr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ABCBAD3-9F00-2932-3375-48CC3286C8DF}"/>
              </a:ext>
            </a:extLst>
          </p:cNvPr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ECAD7A5-EBB7-73D2-A914-41ED42C682EA}"/>
              </a:ext>
            </a:extLst>
          </p:cNvPr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  <p:pic>
        <p:nvPicPr>
          <p:cNvPr id="34" name="Рисунок 33" descr="Изображение выглядит как текст, чек, докумен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6DAA864-D070-F69F-3BC8-18AFB1D41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67868"/>
            <a:ext cx="12988290" cy="5354356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чек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0CC3058-E03F-21AE-3D4D-E65B18BA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234"/>
          <a:stretch/>
        </p:blipFill>
        <p:spPr>
          <a:xfrm>
            <a:off x="762000" y="6834778"/>
            <a:ext cx="12988290" cy="192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4514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ИТОГИ И ПЛАНЫ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5D79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ГОТОВО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03400"/>
            <a:ext cx="7112000" cy="5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205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19939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ETL-модуль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со словарным фильтром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Язык: R | ~200 ключевых слов | Проверка полного текста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882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28194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MCP-сервер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 ИИ-анализом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Qwen 2.5 через Ollama | JSON-ответы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370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36449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Изменения в схеме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базы данных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Новые колонки + таблица etl_runs для логирования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4533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44704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Shiny-прототип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для отображения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KPI, таблица, карточки угроз, экспорт CSV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535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" y="52959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Docker-окружение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для развёртывания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TT-RSS + PostgreSQL в контейнерах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1371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5D7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ПЛАНЫ ПО ДОРАБОТКЕ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1803400"/>
            <a:ext cx="7112000" cy="5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E3F0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36000" y="205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20" name="Text 18"/>
          <p:cNvSpPr/>
          <p:nvPr/>
        </p:nvSpPr>
        <p:spPr>
          <a:xfrm>
            <a:off x="9067800" y="19939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Автоматический запуск ETL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по расписанию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Cron-задачи или системный планировщик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36000" y="2882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22" name="Text 20"/>
          <p:cNvSpPr/>
          <p:nvPr/>
        </p:nvSpPr>
        <p:spPr>
          <a:xfrm>
            <a:off x="9067800" y="28194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в Docker-образе TT-RSS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Замена образа для стабильной работы API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370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24" name="Text 22"/>
          <p:cNvSpPr/>
          <p:nvPr/>
        </p:nvSpPr>
        <p:spPr>
          <a:xfrm>
            <a:off x="9067800" y="36449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Доработка Shiny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подключение к БД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Прямое чтение из PostgreSQL + отображение советов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36000" y="4533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26" name="Text 24"/>
          <p:cNvSpPr/>
          <p:nvPr/>
        </p:nvSpPr>
        <p:spPr>
          <a:xfrm>
            <a:off x="9067800" y="44704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docker-compose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Упаковка всех компонентов в один файл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36000" y="535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B5D79D"/>
          </a:solidFill>
          <a:ln/>
        </p:spPr>
      </p:sp>
      <p:sp>
        <p:nvSpPr>
          <p:cNvPr id="28" name="Text 26"/>
          <p:cNvSpPr/>
          <p:nvPr/>
        </p:nvSpPr>
        <p:spPr>
          <a:xfrm>
            <a:off x="9067800" y="5295900"/>
            <a:ext cx="6172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Расширение словаря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источников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Добавление новых ключевых слов и RSS-лент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9987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znj3mmk2ub34/mnt/agents/output/cyberfraud_prelaunch/images/5_Fraud_Detection_Over_6_460_Royalty.png"/>
          <p:cNvPicPr>
            <a:picLocks noChangeAspect="1"/>
          </p:cNvPicPr>
          <p:nvPr/>
        </p:nvPicPr>
        <p:blipFill>
          <a:blip r:embed="rId3"/>
          <a:srcRect l="7370" t="417" r="13360" b="6944"/>
          <a:stretch/>
        </p:blipFill>
        <p:spPr>
          <a:xfrm>
            <a:off x="-21935" y="57150"/>
            <a:ext cx="16277935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1935" y="3810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0000"/>
                </a:srgbClr>
              </a:gs>
              <a:gs pos="40000">
                <a:srgbClr val="0F172A">
                  <a:alpha val="80000"/>
                </a:srgbClr>
              </a:gs>
              <a:gs pos="100000">
                <a:srgbClr val="0F172A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601899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kern="0" spc="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23000" y="3619500"/>
            <a:ext cx="3810000" cy="25400"/>
          </a:xfrm>
          <a:prstGeom prst="rect">
            <a:avLst/>
          </a:prstGeom>
          <a:solidFill>
            <a:srgbClr val="0B0DF5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3873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обнаружения кибермошенничества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Автоматизированный сбор, ИИ-анализ, защита пользователей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CYBERFRAUD DETECTION SYSTEM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926670" y="7115810"/>
            <a:ext cx="2475973" cy="13931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464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Мальсагова М.М.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464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Кириллова А.С.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464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Малахиев К.Г.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464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Яблокова С.Д.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464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Александрова Д.С.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1307</Words>
  <Application>Microsoft Macintosh PowerPoint</Application>
  <PresentationFormat>Произвольный</PresentationFormat>
  <Paragraphs>299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微软雅黑</vt:lpstr>
      <vt:lpstr>Hedvig Letters Sans</vt:lpstr>
      <vt:lpstr>Arial</vt:lpstr>
      <vt:lpstr>Liter</vt:lpstr>
      <vt:lpstr>QuattrocentoSans</vt:lpstr>
      <vt:lpstr>Quattrocento 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обнаружения кибермошенничества — Предрелиз</dc:title>
  <dc:subject>Система обнаружения кибермошенничества — Предрелиз</dc:subject>
  <dc:creator>Kimi</dc:creator>
  <cp:lastModifiedBy>Madin Ilin</cp:lastModifiedBy>
  <cp:revision>3</cp:revision>
  <dcterms:created xsi:type="dcterms:W3CDTF">2026-05-02T06:40:40Z</dcterms:created>
  <dcterms:modified xsi:type="dcterms:W3CDTF">2026-05-02T08:25:30Z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{"Label":"Система обнаружения кибермошенничества — Предрелиз","ContentProducer":"001191110108MACG2KBH8F10000","ProduceID":"19de64c4-8ce2-891a-8000-000009778695","ReservedCode1":"","ContentPropagator":"001191110108MACG2KBH8F20000","PropagateID":"19de64c4-8ce2-891a-8000-000009778695","ReservedCode2":""}</vt:lpwstr>
  </property>
</Properties>
</file>